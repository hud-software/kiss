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n lalu" initials="jl" lastIdx="1" clrIdx="0">
    <p:extLst>
      <p:ext uri="{19B8F6BF-5375-455C-9EA6-DF929625EA0E}">
        <p15:presenceInfo xmlns:p15="http://schemas.microsoft.com/office/powerpoint/2012/main" userId="53ae8bccc8714cb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26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65EDD-C727-4C18-BDC8-06B624F29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B61463-516A-4E4A-94E3-E63609FC9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1C9E90-6FE9-4C01-BF70-317BD04E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F8A07E-0083-422D-A49A-6FBCF4ADA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39F1D2-1AE3-4AC7-8F55-CB36DD59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1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AE26DD-DC2E-49EC-918E-D2C6C48E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87C50E-5F29-4DBF-B803-043BAFBF6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0775C5-6543-4969-A189-11963E6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C42D78-EEA0-41D6-80B4-BEA8D98C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5709C7-D39C-4008-9AE3-80D4B8B55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94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20261-F5AA-443B-925E-5E96C85EB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294F29-80C2-4946-87F0-15D85D99D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DFD5BA-2F1F-4083-A761-3E8E436B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FF79C5-C500-420D-8A9B-3BC043E5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9D1FC7-D423-42C7-BF91-CB7EDBA0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00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3FE799-6525-4646-925A-F384EAD7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E47E54-C024-40FF-BD26-C8E188B2A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EEBDBAE-1EA1-477E-B8CC-732B2B84E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F3EA9A-5BD1-42D2-880A-216506C5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746AAB-555E-409E-B513-470321D0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434AC1-151D-4D6E-95D4-E599EAB6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589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17B85-F302-475A-9A6C-6B54F3AD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45F498-0095-4E24-AD8B-9C492F8B4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A9740A-47E2-43EE-B02A-15C7B207A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3153D23-C7D4-4F92-80EE-9C2096ABD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D709605-9AEE-4F36-9652-BB50E9380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3CC3156-4726-430B-A57D-140FADF5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8B3341-2ED0-4717-B5C3-0A9B2EE5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A8F789-00F7-489A-AEDE-F3D6C41A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140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304054-CA15-4FCE-880F-1592FE59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0D740E8-7987-426E-9897-D3304977E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1DCD0B-45EB-48C2-A3DE-CF48E538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AA72C7-C5F9-4691-961E-52B83811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47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80AC3FA-8C7A-4E77-8316-E6AB0483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3F5BE1-DD52-4F8D-B4E8-15C8BB8C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76D754-EB6F-4332-BBBD-FBBBC162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86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941867-FE3B-4F2D-A265-3507EE1C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D7E8FF-88D3-4528-A5D9-F5BE183E4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677F8B-FE35-491B-8831-92F5A0F8D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B5E795-9831-46CB-8CA0-5F02A816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231AA7-D06F-4338-BC5D-BC27437D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BC0007-C7D9-4433-A917-09477E02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24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20D9D-8A17-4365-871F-1D274B79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15CC680-E4BF-4DCC-9359-B06D0AE97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38608C-344F-4EFA-964E-FBEB8F92E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ED3A0B-1E3B-4709-941F-740DD00E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037733-8730-4330-9C89-45F8C746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710AC9-AB58-4089-8EEC-0427C236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31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F9561B-7D90-4BAC-BE5D-56108605D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C48E02-3315-4596-9522-2758555D0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04D101-D5D9-40F9-BE59-F2B74A5E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96A508-BE3F-4F72-88A7-6D3E871F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F30F82-BC23-4D49-8395-2BE3B195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61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34369FD-1BA4-40FE-9655-0A596D719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E46C3C1-2290-4BA0-A23A-CEC857546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01D7E2-472D-436D-9215-BA60FF8AB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D69FC8-8B05-471D-BB5A-34B82525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6A84BD-073B-48DD-9529-2BCF8A6C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55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355C050-9FC9-43ED-8743-6C5653BFE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C3B3E8-3157-464C-96EC-645BE1D18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7934A7-5BEA-4376-B8FF-A59593DFA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82B03-75C8-432B-BC45-9B6C94A83F27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467684-22FB-4192-9F57-2271C974E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412A89-1A4B-494C-95E5-B82589F2B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64381-DD97-433B-B6E6-0BC7F30F26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8EA9D927-F1D2-4BD7-B190-3E46CE6D2E26}"/>
              </a:ext>
            </a:extLst>
          </p:cNvPr>
          <p:cNvGrpSpPr/>
          <p:nvPr/>
        </p:nvGrpSpPr>
        <p:grpSpPr>
          <a:xfrm>
            <a:off x="283398" y="106326"/>
            <a:ext cx="11491184" cy="5730947"/>
            <a:chOff x="283398" y="106326"/>
            <a:chExt cx="11491184" cy="5730947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968F3F4A-F298-4AE9-A2BC-8720B533C4D9}"/>
                </a:ext>
              </a:extLst>
            </p:cNvPr>
            <p:cNvGrpSpPr/>
            <p:nvPr/>
          </p:nvGrpSpPr>
          <p:grpSpPr>
            <a:xfrm>
              <a:off x="640861" y="249427"/>
              <a:ext cx="11133721" cy="5061656"/>
              <a:chOff x="640861" y="249427"/>
              <a:chExt cx="11133721" cy="5061656"/>
            </a:xfrm>
          </p:grpSpPr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9D0D569D-A49C-49A5-8290-BEA8A60999BC}"/>
                  </a:ext>
                </a:extLst>
              </p:cNvPr>
              <p:cNvSpPr/>
              <p:nvPr/>
            </p:nvSpPr>
            <p:spPr>
              <a:xfrm>
                <a:off x="4360985" y="387927"/>
                <a:ext cx="1883508" cy="770705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Project A</a:t>
                </a:r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48A649E1-7C06-4202-8170-EC3D82CE04A4}"/>
                  </a:ext>
                </a:extLst>
              </p:cNvPr>
              <p:cNvSpPr/>
              <p:nvPr/>
            </p:nvSpPr>
            <p:spPr>
              <a:xfrm>
                <a:off x="2278183" y="1486654"/>
                <a:ext cx="1883508" cy="67212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Project B</a:t>
                </a:r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76F53E62-96C0-496B-AE12-37C5B1F57EFD}"/>
                  </a:ext>
                </a:extLst>
              </p:cNvPr>
              <p:cNvSpPr/>
              <p:nvPr/>
            </p:nvSpPr>
            <p:spPr>
              <a:xfrm>
                <a:off x="6721231" y="3158923"/>
                <a:ext cx="1883508" cy="67212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Project C</a:t>
                </a:r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754C9739-3D48-4061-9CAB-2A4B8EA6F817}"/>
                  </a:ext>
                </a:extLst>
              </p:cNvPr>
              <p:cNvSpPr/>
              <p:nvPr/>
            </p:nvSpPr>
            <p:spPr>
              <a:xfrm>
                <a:off x="640861" y="3429000"/>
                <a:ext cx="1883508" cy="67212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Project D</a:t>
                </a:r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9D18D363-CF24-41FE-98CE-C6181DBF47C8}"/>
                  </a:ext>
                </a:extLst>
              </p:cNvPr>
              <p:cNvSpPr/>
              <p:nvPr/>
            </p:nvSpPr>
            <p:spPr>
              <a:xfrm>
                <a:off x="5798651" y="4638960"/>
                <a:ext cx="1883508" cy="67212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Project F</a:t>
                </a:r>
              </a:p>
            </p:txBody>
          </p:sp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541C172B-DA05-4B65-8690-235E1B30CCC9}"/>
                  </a:ext>
                </a:extLst>
              </p:cNvPr>
              <p:cNvSpPr/>
              <p:nvPr/>
            </p:nvSpPr>
            <p:spPr>
              <a:xfrm>
                <a:off x="2987430" y="3419225"/>
                <a:ext cx="1883508" cy="67212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Project E</a:t>
                </a:r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A9326237-1A35-4803-87D9-7743A6461312}"/>
                  </a:ext>
                </a:extLst>
              </p:cNvPr>
              <p:cNvSpPr/>
              <p:nvPr/>
            </p:nvSpPr>
            <p:spPr>
              <a:xfrm>
                <a:off x="9499600" y="4638960"/>
                <a:ext cx="1883508" cy="67212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Project G</a:t>
                </a:r>
              </a:p>
            </p:txBody>
          </p:sp>
          <p:cxnSp>
            <p:nvCxnSpPr>
              <p:cNvPr id="13" name="Connecteur droit avec flèche 12">
                <a:extLst>
                  <a:ext uri="{FF2B5EF4-FFF2-40B4-BE49-F238E27FC236}">
                    <a16:creationId xmlns:a16="http://schemas.microsoft.com/office/drawing/2014/main" id="{C4E237D2-91D7-45FF-B5E6-2C9CDE7148D6}"/>
                  </a:ext>
                </a:extLst>
              </p:cNvPr>
              <p:cNvCxnSpPr>
                <a:cxnSpLocks/>
                <a:stCxn id="5" idx="2"/>
                <a:endCxn id="6" idx="0"/>
              </p:cNvCxnSpPr>
              <p:nvPr/>
            </p:nvCxnSpPr>
            <p:spPr>
              <a:xfrm flipH="1">
                <a:off x="3219937" y="1158632"/>
                <a:ext cx="2082802" cy="32802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avec flèche 16">
                <a:extLst>
                  <a:ext uri="{FF2B5EF4-FFF2-40B4-BE49-F238E27FC236}">
                    <a16:creationId xmlns:a16="http://schemas.microsoft.com/office/drawing/2014/main" id="{3219E895-1496-4F7F-87FB-296607403E47}"/>
                  </a:ext>
                </a:extLst>
              </p:cNvPr>
              <p:cNvCxnSpPr>
                <a:cxnSpLocks/>
                <a:stCxn id="5" idx="2"/>
                <a:endCxn id="7" idx="0"/>
              </p:cNvCxnSpPr>
              <p:nvPr/>
            </p:nvCxnSpPr>
            <p:spPr>
              <a:xfrm>
                <a:off x="5302739" y="1158632"/>
                <a:ext cx="2360246" cy="20002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avec flèche 21">
                <a:extLst>
                  <a:ext uri="{FF2B5EF4-FFF2-40B4-BE49-F238E27FC236}">
                    <a16:creationId xmlns:a16="http://schemas.microsoft.com/office/drawing/2014/main" id="{3A715313-7649-4B74-B52E-5FA58E45F785}"/>
                  </a:ext>
                </a:extLst>
              </p:cNvPr>
              <p:cNvCxnSpPr>
                <a:cxnSpLocks/>
                <a:stCxn id="6" idx="2"/>
                <a:endCxn id="8" idx="0"/>
              </p:cNvCxnSpPr>
              <p:nvPr/>
            </p:nvCxnSpPr>
            <p:spPr>
              <a:xfrm flipH="1">
                <a:off x="1582615" y="2158777"/>
                <a:ext cx="1637322" cy="12702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necteur droit avec flèche 24">
                <a:extLst>
                  <a:ext uri="{FF2B5EF4-FFF2-40B4-BE49-F238E27FC236}">
                    <a16:creationId xmlns:a16="http://schemas.microsoft.com/office/drawing/2014/main" id="{21669CA1-549E-4D64-B806-104C4B82826A}"/>
                  </a:ext>
                </a:extLst>
              </p:cNvPr>
              <p:cNvCxnSpPr>
                <a:cxnSpLocks/>
                <a:stCxn id="6" idx="2"/>
                <a:endCxn id="10" idx="0"/>
              </p:cNvCxnSpPr>
              <p:nvPr/>
            </p:nvCxnSpPr>
            <p:spPr>
              <a:xfrm>
                <a:off x="3219937" y="2158777"/>
                <a:ext cx="709247" cy="12604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necteur droit avec flèche 27">
                <a:extLst>
                  <a:ext uri="{FF2B5EF4-FFF2-40B4-BE49-F238E27FC236}">
                    <a16:creationId xmlns:a16="http://schemas.microsoft.com/office/drawing/2014/main" id="{1EF42D88-40B7-4137-B8C5-96B66F032E83}"/>
                  </a:ext>
                </a:extLst>
              </p:cNvPr>
              <p:cNvCxnSpPr>
                <a:cxnSpLocks/>
                <a:stCxn id="7" idx="2"/>
                <a:endCxn id="9" idx="0"/>
              </p:cNvCxnSpPr>
              <p:nvPr/>
            </p:nvCxnSpPr>
            <p:spPr>
              <a:xfrm flipH="1">
                <a:off x="6740405" y="3831046"/>
                <a:ext cx="922580" cy="8079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avec flèche 30">
                <a:extLst>
                  <a:ext uri="{FF2B5EF4-FFF2-40B4-BE49-F238E27FC236}">
                    <a16:creationId xmlns:a16="http://schemas.microsoft.com/office/drawing/2014/main" id="{D9B2C3CB-68B5-41E8-915C-6D7B4B1AE735}"/>
                  </a:ext>
                </a:extLst>
              </p:cNvPr>
              <p:cNvCxnSpPr>
                <a:cxnSpLocks/>
                <a:stCxn id="7" idx="2"/>
                <a:endCxn id="11" idx="0"/>
              </p:cNvCxnSpPr>
              <p:nvPr/>
            </p:nvCxnSpPr>
            <p:spPr>
              <a:xfrm>
                <a:off x="7662985" y="3831046"/>
                <a:ext cx="2778369" cy="8079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avec flèche 33">
                <a:extLst>
                  <a:ext uri="{FF2B5EF4-FFF2-40B4-BE49-F238E27FC236}">
                    <a16:creationId xmlns:a16="http://schemas.microsoft.com/office/drawing/2014/main" id="{F61682A8-27CB-471C-ACB3-D184BFC03892}"/>
                  </a:ext>
                </a:extLst>
              </p:cNvPr>
              <p:cNvCxnSpPr>
                <a:cxnSpLocks/>
                <a:stCxn id="10" idx="3"/>
                <a:endCxn id="9" idx="1"/>
              </p:cNvCxnSpPr>
              <p:nvPr/>
            </p:nvCxnSpPr>
            <p:spPr>
              <a:xfrm>
                <a:off x="4870938" y="3755287"/>
                <a:ext cx="927713" cy="12197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cteur droit avec flèche 36">
                <a:extLst>
                  <a:ext uri="{FF2B5EF4-FFF2-40B4-BE49-F238E27FC236}">
                    <a16:creationId xmlns:a16="http://schemas.microsoft.com/office/drawing/2014/main" id="{F3C57D6D-6650-43F6-ABAC-C7A85A45C2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13091" y="401868"/>
                <a:ext cx="5865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5A779B3C-DEFC-4627-B27B-D90E3DCB9CC0}"/>
                  </a:ext>
                </a:extLst>
              </p:cNvPr>
              <p:cNvSpPr txBox="1"/>
              <p:nvPr/>
            </p:nvSpPr>
            <p:spPr>
              <a:xfrm>
                <a:off x="8551584" y="249427"/>
                <a:ext cx="32229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/>
                  <a:t>Top                     Bottom : Top </a:t>
                </a:r>
                <a:r>
                  <a:rPr lang="fr-FR" sz="1200" dirty="0" err="1"/>
                  <a:t>depends</a:t>
                </a:r>
                <a:r>
                  <a:rPr lang="fr-FR" sz="1200" dirty="0"/>
                  <a:t> on </a:t>
                </a:r>
                <a:r>
                  <a:rPr lang="fr-FR" sz="1200" dirty="0" err="1"/>
                  <a:t>bottom</a:t>
                </a:r>
                <a:endParaRPr lang="fr-FR" sz="1200" dirty="0"/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4C610AC-E541-4789-9131-DBF8311DF5A5}"/>
                </a:ext>
              </a:extLst>
            </p:cNvPr>
            <p:cNvSpPr/>
            <p:nvPr/>
          </p:nvSpPr>
          <p:spPr>
            <a:xfrm>
              <a:off x="1318437" y="106326"/>
              <a:ext cx="5170286" cy="237458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dirty="0">
                  <a:solidFill>
                    <a:schemeClr val="tx1"/>
                  </a:solidFill>
                </a:rPr>
                <a:t>Dossier ‘A’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2B65209-04AD-4832-AB02-180B63A771C9}"/>
                </a:ext>
              </a:extLst>
            </p:cNvPr>
            <p:cNvSpPr/>
            <p:nvPr/>
          </p:nvSpPr>
          <p:spPr>
            <a:xfrm>
              <a:off x="283398" y="3077273"/>
              <a:ext cx="2473479" cy="135713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dirty="0">
                  <a:solidFill>
                    <a:schemeClr val="tx1"/>
                  </a:solidFill>
                </a:rPr>
                <a:t>Dossier ‘D’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4E5E7A6-6F66-407C-BF78-C9A3152595DC}"/>
                </a:ext>
              </a:extLst>
            </p:cNvPr>
            <p:cNvSpPr/>
            <p:nvPr/>
          </p:nvSpPr>
          <p:spPr>
            <a:xfrm>
              <a:off x="2924952" y="3070272"/>
              <a:ext cx="2473479" cy="135713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dirty="0">
                  <a:solidFill>
                    <a:schemeClr val="tx1"/>
                  </a:solidFill>
                </a:rPr>
                <a:t>Dossier ‘E’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B107432-F8D9-4B9C-B80E-B01860260213}"/>
                </a:ext>
              </a:extLst>
            </p:cNvPr>
            <p:cNvSpPr/>
            <p:nvPr/>
          </p:nvSpPr>
          <p:spPr>
            <a:xfrm>
              <a:off x="5587271" y="3064092"/>
              <a:ext cx="3248021" cy="277318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dirty="0">
                  <a:solidFill>
                    <a:schemeClr val="tx1"/>
                  </a:solidFill>
                </a:rPr>
                <a:t>Dossier ‘C’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DFA2D9B-C80D-4527-A95C-4F4A283D72DE}"/>
                </a:ext>
              </a:extLst>
            </p:cNvPr>
            <p:cNvSpPr/>
            <p:nvPr/>
          </p:nvSpPr>
          <p:spPr>
            <a:xfrm>
              <a:off x="9222971" y="3907687"/>
              <a:ext cx="2436766" cy="149822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dirty="0">
                  <a:solidFill>
                    <a:schemeClr val="tx1"/>
                  </a:solidFill>
                </a:rPr>
                <a:t>Dossier ‘G’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0422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77">
            <a:extLst>
              <a:ext uri="{FF2B5EF4-FFF2-40B4-BE49-F238E27FC236}">
                <a16:creationId xmlns:a16="http://schemas.microsoft.com/office/drawing/2014/main" id="{529E895C-4571-4BB5-BBC0-4552C61EB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6" y="1061040"/>
            <a:ext cx="8358353" cy="4179176"/>
          </a:xfrm>
          <a:prstGeom prst="rect">
            <a:avLst/>
          </a:prstGeom>
        </p:spPr>
      </p:pic>
      <p:sp>
        <p:nvSpPr>
          <p:cNvPr id="80" name="ZoneTexte 79">
            <a:extLst>
              <a:ext uri="{FF2B5EF4-FFF2-40B4-BE49-F238E27FC236}">
                <a16:creationId xmlns:a16="http://schemas.microsoft.com/office/drawing/2014/main" id="{B61DCCA3-F3DE-4263-8648-AE27FBB631F0}"/>
              </a:ext>
            </a:extLst>
          </p:cNvPr>
          <p:cNvSpPr txBox="1"/>
          <p:nvPr/>
        </p:nvSpPr>
        <p:spPr>
          <a:xfrm>
            <a:off x="9209475" y="1580921"/>
            <a:ext cx="23057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📁 A</a:t>
            </a:r>
          </a:p>
          <a:p>
            <a:r>
              <a:rPr lang="fr-FR" dirty="0"/>
              <a:t>       </a:t>
            </a:r>
            <a:r>
              <a:rPr lang="fr-FR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├─</a:t>
            </a:r>
            <a:r>
              <a:rPr lang="fr-FR" dirty="0"/>
              <a:t>📁 B</a:t>
            </a:r>
          </a:p>
          <a:p>
            <a:r>
              <a:rPr lang="fr-FR" dirty="0"/>
              <a:t>       </a:t>
            </a:r>
            <a:r>
              <a:rPr lang="fr-FR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└─</a:t>
            </a:r>
            <a:r>
              <a:rPr lang="fr-FR" dirty="0"/>
              <a:t>📄</a:t>
            </a:r>
            <a:r>
              <a:rPr lang="fr-FR" dirty="0" err="1"/>
              <a:t>kiss.yaml</a:t>
            </a:r>
            <a:endParaRPr lang="fr-FR" dirty="0"/>
          </a:p>
          <a:p>
            <a:r>
              <a:rPr lang="fr-FR" dirty="0"/>
              <a:t>📁 D</a:t>
            </a:r>
          </a:p>
          <a:p>
            <a:r>
              <a:rPr lang="fr-FR" dirty="0"/>
              <a:t>       </a:t>
            </a:r>
            <a:r>
              <a:rPr lang="fr-FR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└─</a:t>
            </a:r>
            <a:r>
              <a:rPr lang="fr-FR" dirty="0"/>
              <a:t>📄</a:t>
            </a:r>
            <a:r>
              <a:rPr lang="fr-FR" dirty="0" err="1"/>
              <a:t>kiss.yaml</a:t>
            </a:r>
            <a:endParaRPr lang="fr-FR" dirty="0"/>
          </a:p>
          <a:p>
            <a:r>
              <a:rPr lang="fr-FR" dirty="0"/>
              <a:t>📁 E</a:t>
            </a:r>
          </a:p>
          <a:p>
            <a:r>
              <a:rPr lang="fr-FR" dirty="0"/>
              <a:t>       </a:t>
            </a:r>
            <a:r>
              <a:rPr lang="fr-FR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└─</a:t>
            </a:r>
            <a:r>
              <a:rPr lang="fr-FR" dirty="0"/>
              <a:t>📄</a:t>
            </a:r>
            <a:r>
              <a:rPr lang="fr-FR" dirty="0" err="1"/>
              <a:t>kiss.yaml</a:t>
            </a:r>
            <a:endParaRPr lang="fr-FR" dirty="0"/>
          </a:p>
          <a:p>
            <a:r>
              <a:rPr lang="fr-FR" dirty="0"/>
              <a:t>📁 C</a:t>
            </a:r>
          </a:p>
          <a:p>
            <a:r>
              <a:rPr lang="fr-FR" dirty="0"/>
              <a:t>       </a:t>
            </a:r>
            <a:r>
              <a:rPr lang="fr-FR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├─</a:t>
            </a:r>
            <a:r>
              <a:rPr lang="fr-FR" dirty="0"/>
              <a:t>📁 F</a:t>
            </a:r>
          </a:p>
          <a:p>
            <a:r>
              <a:rPr lang="fr-FR" dirty="0"/>
              <a:t>       </a:t>
            </a:r>
            <a:r>
              <a:rPr lang="fr-FR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└─</a:t>
            </a:r>
            <a:r>
              <a:rPr lang="fr-FR" dirty="0"/>
              <a:t>📄</a:t>
            </a:r>
            <a:r>
              <a:rPr lang="fr-FR" dirty="0" err="1"/>
              <a:t>kiss.yaml</a:t>
            </a:r>
            <a:endParaRPr lang="fr-FR" dirty="0"/>
          </a:p>
          <a:p>
            <a:r>
              <a:rPr lang="fr-FR" dirty="0"/>
              <a:t>📁 G</a:t>
            </a:r>
          </a:p>
          <a:p>
            <a:r>
              <a:rPr lang="fr-FR" dirty="0"/>
              <a:t>       </a:t>
            </a:r>
            <a:r>
              <a:rPr lang="fr-FR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└─</a:t>
            </a:r>
            <a:r>
              <a:rPr lang="fr-FR" dirty="0"/>
              <a:t>📄</a:t>
            </a:r>
            <a:r>
              <a:rPr lang="fr-FR" dirty="0" err="1"/>
              <a:t>kiss.yaml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107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2580BEC-6977-4268-9CF3-60E759092915}"/>
              </a:ext>
            </a:extLst>
          </p:cNvPr>
          <p:cNvSpPr txBox="1"/>
          <p:nvPr/>
        </p:nvSpPr>
        <p:spPr>
          <a:xfrm>
            <a:off x="369351" y="3271967"/>
            <a:ext cx="34960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bin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my_bin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0.1.0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This is project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my_bin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sources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\main.cpp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dependencies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dep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_b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dep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_c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../C</a:t>
            </a:r>
          </a:p>
          <a:p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     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dep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_git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E06C75"/>
                </a:solidFill>
                <a:latin typeface="Consolas" panose="020B0609020204030204" pitchFamily="49" charset="0"/>
              </a:rPr>
              <a:t>        git </a:t>
            </a:r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: git@...</a:t>
            </a:r>
          </a:p>
          <a:p>
            <a:r>
              <a:rPr lang="en-US" sz="1200" dirty="0">
                <a:solidFill>
                  <a:srgbClr val="E06C75"/>
                </a:solidFill>
                <a:latin typeface="Consolas" panose="020B0609020204030204" pitchFamily="49" charset="0"/>
              </a:rPr>
              <a:t>        branch </a:t>
            </a:r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: dev</a:t>
            </a: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112501D-32A3-4DDF-851F-92F5B4C04E54}"/>
              </a:ext>
            </a:extLst>
          </p:cNvPr>
          <p:cNvSpPr txBox="1"/>
          <p:nvPr/>
        </p:nvSpPr>
        <p:spPr>
          <a:xfrm>
            <a:off x="67732" y="2421218"/>
            <a:ext cx="20496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📁 </a:t>
            </a:r>
            <a:r>
              <a:rPr lang="fr-FR" sz="1600" dirty="0" err="1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my_bin</a:t>
            </a:r>
            <a:endParaRPr lang="fr-FR" sz="1600" dirty="0">
              <a:latin typeface="Ubuntu Mono" panose="020B0309030602030204" pitchFamily="49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r>
              <a:rPr lang="fr-FR" sz="1600" b="0" dirty="0">
                <a:solidFill>
                  <a:srgbClr val="98C379"/>
                </a:solidFill>
                <a:effectLst/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└─</a:t>
            </a:r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📄</a:t>
            </a:r>
            <a:r>
              <a:rPr lang="fr-FR" sz="1600" dirty="0" err="1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kiss.yaml</a:t>
            </a:r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4AD0D4E-E19F-4508-A6A9-4612C72C4489}"/>
              </a:ext>
            </a:extLst>
          </p:cNvPr>
          <p:cNvSpPr txBox="1"/>
          <p:nvPr/>
        </p:nvSpPr>
        <p:spPr>
          <a:xfrm>
            <a:off x="4897583" y="2208047"/>
            <a:ext cx="68580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name of the project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</a:t>
            </a:r>
            <a:r>
              <a:rPr lang="fr-FR" sz="1200" dirty="0">
                <a:latin typeface="Consolas" panose="020B0609020204030204" pitchFamily="49" charset="0"/>
              </a:rPr>
              <a:t>1er caractère : lettre ASCII (maj/min) ou _</a:t>
            </a:r>
          </a:p>
          <a:p>
            <a:r>
              <a:rPr lang="fr-FR" sz="1200" dirty="0">
                <a:latin typeface="Consolas" panose="020B0609020204030204" pitchFamily="49" charset="0"/>
              </a:rPr>
              <a:t> - caractères suivants : lettres, chiffres ou _</a:t>
            </a:r>
          </a:p>
          <a:p>
            <a:endParaRPr lang="fr-FR" sz="1200" dirty="0"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version: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SemVer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version</a:t>
            </a:r>
          </a:p>
          <a:p>
            <a:endParaRPr lang="fr-FR" sz="1200" dirty="0"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description: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description of the project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path of the project, (optional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</a:rPr>
              <a:t>kiss.yaml</a:t>
            </a:r>
            <a:r>
              <a:rPr lang="en-US" sz="1200" dirty="0">
                <a:latin typeface="Consolas" panose="020B0609020204030204" pitchFamily="49" charset="0"/>
              </a:rPr>
              <a:t> directory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if not set)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sources: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list of source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relative to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my_bin:path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directory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absolute (Warning if build on absolute path)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* -&gt;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n’importe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quelle suite de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caractères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sauf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séparateur</a:t>
            </a:r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** -&gt;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tous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les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fichiers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et dossiers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récursivement</a:t>
            </a:r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? -&gt; un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seul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caractère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(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src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? -&gt; src0, src1,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srcA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etc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…)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E06C75"/>
                </a:solidFill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ependencies: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list of dependencies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 name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name of the dependency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path of the dependency, (optional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if not set)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git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git address of the repo to clone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E06C75"/>
                </a:solidFill>
                <a:latin typeface="Consolas" panose="020B0609020204030204" pitchFamily="49" charset="0"/>
              </a:rPr>
              <a:t>branch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branch to clone (optional)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endParaRPr lang="en-US" sz="1400" b="0" dirty="0">
              <a:effectLst/>
              <a:latin typeface="Consolas" panose="020B0609020204030204" pitchFamily="49" charset="0"/>
            </a:endParaRPr>
          </a:p>
          <a:p>
            <a:endParaRPr lang="fr-FR" sz="1400" dirty="0">
              <a:latin typeface="Consolas" panose="020B0609020204030204" pitchFamily="49" charset="0"/>
            </a:endParaRP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ABA6FB31-8B5A-474D-BC2D-D5AB37D0F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Binary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(</a:t>
            </a:r>
            <a:r>
              <a:rPr lang="fr-FR" dirty="0" err="1"/>
              <a:t>elf</a:t>
            </a:r>
            <a:r>
              <a:rPr lang="fr-FR" dirty="0"/>
              <a:t>, .exe)</a:t>
            </a:r>
          </a:p>
        </p:txBody>
      </p:sp>
    </p:spTree>
    <p:extLst>
      <p:ext uri="{BB962C8B-B14F-4D97-AF65-F5344CB8AC3E}">
        <p14:creationId xmlns:p14="http://schemas.microsoft.com/office/powerpoint/2010/main" val="3234260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2580BEC-6977-4268-9CF3-60E759092915}"/>
              </a:ext>
            </a:extLst>
          </p:cNvPr>
          <p:cNvSpPr txBox="1"/>
          <p:nvPr/>
        </p:nvSpPr>
        <p:spPr>
          <a:xfrm>
            <a:off x="369351" y="3271967"/>
            <a:ext cx="34960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lib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my_lib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0.1.0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This is project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lib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sources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\lib.cpp</a:t>
            </a: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interface_directories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interface\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my_lib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dependencies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dep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_b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dep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_c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../C</a:t>
            </a:r>
          </a:p>
          <a:p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     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dep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_git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E06C75"/>
                </a:solidFill>
                <a:latin typeface="Consolas" panose="020B0609020204030204" pitchFamily="49" charset="0"/>
              </a:rPr>
              <a:t>        git </a:t>
            </a:r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: git@...</a:t>
            </a:r>
          </a:p>
          <a:p>
            <a:r>
              <a:rPr lang="en-US" sz="1200" dirty="0">
                <a:solidFill>
                  <a:srgbClr val="E06C75"/>
                </a:solidFill>
                <a:latin typeface="Consolas" panose="020B0609020204030204" pitchFamily="49" charset="0"/>
              </a:rPr>
              <a:t>        branch </a:t>
            </a:r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: dev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112501D-32A3-4DDF-851F-92F5B4C04E54}"/>
              </a:ext>
            </a:extLst>
          </p:cNvPr>
          <p:cNvSpPr txBox="1"/>
          <p:nvPr/>
        </p:nvSpPr>
        <p:spPr>
          <a:xfrm>
            <a:off x="67732" y="2421218"/>
            <a:ext cx="20496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📁 </a:t>
            </a:r>
            <a:r>
              <a:rPr lang="fr-FR" sz="1600" dirty="0" err="1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my_lib</a:t>
            </a:r>
            <a:endParaRPr lang="fr-FR" sz="1600" dirty="0">
              <a:latin typeface="Ubuntu Mono" panose="020B0309030602030204" pitchFamily="49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r>
              <a:rPr lang="fr-FR" sz="1600" b="0" dirty="0">
                <a:solidFill>
                  <a:srgbClr val="98C379"/>
                </a:solidFill>
                <a:effectLst/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└─</a:t>
            </a:r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📄</a:t>
            </a:r>
            <a:r>
              <a:rPr lang="fr-FR" sz="1600" dirty="0" err="1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kiss.yaml</a:t>
            </a:r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4AD0D4E-E19F-4508-A6A9-4612C72C4489}"/>
              </a:ext>
            </a:extLst>
          </p:cNvPr>
          <p:cNvSpPr txBox="1"/>
          <p:nvPr/>
        </p:nvSpPr>
        <p:spPr>
          <a:xfrm>
            <a:off x="4964648" y="1608607"/>
            <a:ext cx="6858001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name of the project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</a:t>
            </a:r>
            <a:r>
              <a:rPr lang="fr-FR" sz="1200" dirty="0">
                <a:latin typeface="Consolas" panose="020B0609020204030204" pitchFamily="49" charset="0"/>
              </a:rPr>
              <a:t>1er caractère : lettre ASCII (maj/min) ou _</a:t>
            </a:r>
          </a:p>
          <a:p>
            <a:r>
              <a:rPr lang="fr-FR" sz="1200" dirty="0">
                <a:latin typeface="Consolas" panose="020B0609020204030204" pitchFamily="49" charset="0"/>
              </a:rPr>
              <a:t> - caractères suivants : lettres, chiffres ou _</a:t>
            </a:r>
          </a:p>
          <a:p>
            <a:endParaRPr lang="fr-FR" sz="1200" dirty="0"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version: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SemVer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version</a:t>
            </a:r>
          </a:p>
          <a:p>
            <a:endParaRPr lang="fr-FR" sz="1200" dirty="0"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description: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description of the project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path of the project, (optional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</a:rPr>
              <a:t>kiss.yaml</a:t>
            </a:r>
            <a:r>
              <a:rPr lang="en-US" sz="1200" dirty="0">
                <a:latin typeface="Consolas" panose="020B0609020204030204" pitchFamily="49" charset="0"/>
              </a:rPr>
              <a:t> directory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if not set)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sources: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list of source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relative to B:path directory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absolute (Warning if build on absolute path)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* -&gt;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n’importe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quelle suite de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caractères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sauf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séparateur</a:t>
            </a:r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** -&gt;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tous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les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fichiers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et dossiers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récursivement</a:t>
            </a:r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? -&gt; un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seul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caractère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(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src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? -&gt; src0, src1,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srcA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etc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…)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interface_directories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list of interface directories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relative to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my_lib:path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directory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absolute (Warning if build on absolute path)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E06C75"/>
                </a:solidFill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ependencies: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list of dependencies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 name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name of the dependency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path of the dependency, (optional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if not set)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git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git address of the repo to clone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E06C75"/>
                </a:solidFill>
                <a:latin typeface="Consolas" panose="020B0609020204030204" pitchFamily="49" charset="0"/>
              </a:rPr>
              <a:t>branch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branch to clone (optional)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endParaRPr lang="en-US" sz="1400" b="0" dirty="0">
              <a:effectLst/>
              <a:latin typeface="Consolas" panose="020B0609020204030204" pitchFamily="49" charset="0"/>
            </a:endParaRPr>
          </a:p>
          <a:p>
            <a:endParaRPr lang="fr-FR" sz="1400" dirty="0">
              <a:latin typeface="Consolas" panose="020B0609020204030204" pitchFamily="49" charset="0"/>
            </a:endParaRP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ABA6FB31-8B5A-474D-BC2D-D5AB37D0F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Static</a:t>
            </a:r>
            <a:r>
              <a:rPr lang="fr-FR" dirty="0"/>
              <a:t> </a:t>
            </a:r>
            <a:r>
              <a:rPr lang="fr-FR" dirty="0" err="1"/>
              <a:t>library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 (.a, .lib)</a:t>
            </a:r>
          </a:p>
        </p:txBody>
      </p:sp>
    </p:spTree>
    <p:extLst>
      <p:ext uri="{BB962C8B-B14F-4D97-AF65-F5344CB8AC3E}">
        <p14:creationId xmlns:p14="http://schemas.microsoft.com/office/powerpoint/2010/main" val="390412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2580BEC-6977-4268-9CF3-60E759092915}"/>
              </a:ext>
            </a:extLst>
          </p:cNvPr>
          <p:cNvSpPr txBox="1"/>
          <p:nvPr/>
        </p:nvSpPr>
        <p:spPr>
          <a:xfrm>
            <a:off x="369351" y="3271967"/>
            <a:ext cx="349606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E06C75"/>
                </a:solidFill>
                <a:latin typeface="Consolas" panose="020B0609020204030204" pitchFamily="49" charset="0"/>
              </a:rPr>
              <a:t>dyn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dyn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0.1.0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This is project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my_dyn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sources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\dyn.cpp</a:t>
            </a: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interface_directories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interface\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dyn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dependencies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dep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_b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dep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_c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../C</a:t>
            </a:r>
          </a:p>
          <a:p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     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dep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_git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E06C75"/>
                </a:solidFill>
                <a:latin typeface="Consolas" panose="020B0609020204030204" pitchFamily="49" charset="0"/>
              </a:rPr>
              <a:t>        git </a:t>
            </a:r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: git@...</a:t>
            </a:r>
          </a:p>
          <a:p>
            <a:r>
              <a:rPr lang="en-US" sz="1200" dirty="0">
                <a:solidFill>
                  <a:srgbClr val="E06C75"/>
                </a:solidFill>
                <a:latin typeface="Consolas" panose="020B0609020204030204" pitchFamily="49" charset="0"/>
              </a:rPr>
              <a:t>        branch </a:t>
            </a:r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: dev</a:t>
            </a: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112501D-32A3-4DDF-851F-92F5B4C04E54}"/>
              </a:ext>
            </a:extLst>
          </p:cNvPr>
          <p:cNvSpPr txBox="1"/>
          <p:nvPr/>
        </p:nvSpPr>
        <p:spPr>
          <a:xfrm>
            <a:off x="67732" y="2421218"/>
            <a:ext cx="20496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📁 </a:t>
            </a:r>
            <a:r>
              <a:rPr lang="fr-FR" sz="1600" dirty="0" err="1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my_dyn</a:t>
            </a:r>
            <a:endParaRPr lang="fr-FR" sz="1600" dirty="0">
              <a:latin typeface="Ubuntu Mono" panose="020B0309030602030204" pitchFamily="49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r>
              <a:rPr lang="fr-FR" sz="1600" b="0" dirty="0">
                <a:solidFill>
                  <a:srgbClr val="98C379"/>
                </a:solidFill>
                <a:effectLst/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└─</a:t>
            </a:r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📄</a:t>
            </a:r>
            <a:r>
              <a:rPr lang="fr-FR" sz="1600" dirty="0" err="1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kiss.yaml</a:t>
            </a:r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4AD0D4E-E19F-4508-A6A9-4612C72C4489}"/>
              </a:ext>
            </a:extLst>
          </p:cNvPr>
          <p:cNvSpPr txBox="1"/>
          <p:nvPr/>
        </p:nvSpPr>
        <p:spPr>
          <a:xfrm>
            <a:off x="4964648" y="1608607"/>
            <a:ext cx="6858001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name of the project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</a:t>
            </a:r>
            <a:r>
              <a:rPr lang="fr-FR" sz="1200" dirty="0">
                <a:latin typeface="Consolas" panose="020B0609020204030204" pitchFamily="49" charset="0"/>
              </a:rPr>
              <a:t>1er caractère : lettre ASCII (maj/min) ou _</a:t>
            </a:r>
          </a:p>
          <a:p>
            <a:r>
              <a:rPr lang="fr-FR" sz="1200" dirty="0">
                <a:latin typeface="Consolas" panose="020B0609020204030204" pitchFamily="49" charset="0"/>
              </a:rPr>
              <a:t> - caractères suivants : lettres, chiffres ou _</a:t>
            </a:r>
          </a:p>
          <a:p>
            <a:endParaRPr lang="fr-FR" sz="1200" dirty="0"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version: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SemVer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version</a:t>
            </a:r>
          </a:p>
          <a:p>
            <a:endParaRPr lang="fr-FR" sz="1200" dirty="0"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description: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description of the project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path of the project, (optional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</a:rPr>
              <a:t>kiss.yaml</a:t>
            </a:r>
            <a:r>
              <a:rPr lang="en-US" sz="1200" dirty="0">
                <a:latin typeface="Consolas" panose="020B0609020204030204" pitchFamily="49" charset="0"/>
              </a:rPr>
              <a:t> directory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if not set)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sources: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list of source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relative to B:path directory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absolute (Warning if build on absolute path)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* -&gt;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n’importe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quelle suite de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caractères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sauf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séparateur</a:t>
            </a:r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** -&gt;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tous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les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fichiers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et dossiers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récursivement</a:t>
            </a:r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? -&gt; un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seul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caractère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(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src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? -&gt; src0, src1,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srcA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etc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…)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interface_directories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list of interface directories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relative to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my_lib:path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directory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absolute (Warning if build on absolute path)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E06C75"/>
                </a:solidFill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ependencies: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list of dependencies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 name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name of the dependency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path of the dependency, (optional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if not set)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git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git address of the repo to clone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E06C75"/>
                </a:solidFill>
                <a:latin typeface="Consolas" panose="020B0609020204030204" pitchFamily="49" charset="0"/>
              </a:rPr>
              <a:t>branch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branch to clone (optional)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endParaRPr lang="en-US" sz="1400" b="0" dirty="0">
              <a:effectLst/>
              <a:latin typeface="Consolas" panose="020B0609020204030204" pitchFamily="49" charset="0"/>
            </a:endParaRPr>
          </a:p>
          <a:p>
            <a:endParaRPr lang="fr-FR" sz="1400" dirty="0">
              <a:latin typeface="Consolas" panose="020B0609020204030204" pitchFamily="49" charset="0"/>
            </a:endParaRP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ABA6FB31-8B5A-474D-BC2D-D5AB37D0F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Dynamic </a:t>
            </a:r>
            <a:r>
              <a:rPr lang="fr-FR" dirty="0" err="1"/>
              <a:t>library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 (.</a:t>
            </a:r>
            <a:r>
              <a:rPr lang="fr-FR" dirty="0" err="1"/>
              <a:t>so</a:t>
            </a:r>
            <a:r>
              <a:rPr lang="fr-FR" dirty="0"/>
              <a:t>, .dll)</a:t>
            </a:r>
          </a:p>
        </p:txBody>
      </p:sp>
    </p:spTree>
    <p:extLst>
      <p:ext uri="{BB962C8B-B14F-4D97-AF65-F5344CB8AC3E}">
        <p14:creationId xmlns:p14="http://schemas.microsoft.com/office/powerpoint/2010/main" val="343259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2580BEC-6977-4268-9CF3-60E759092915}"/>
              </a:ext>
            </a:extLst>
          </p:cNvPr>
          <p:cNvSpPr txBox="1"/>
          <p:nvPr/>
        </p:nvSpPr>
        <p:spPr>
          <a:xfrm>
            <a:off x="542071" y="2804607"/>
            <a:ext cx="404008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E06C75"/>
                </a:solidFill>
                <a:latin typeface="Consolas" panose="020B0609020204030204" pitchFamily="49" charset="0"/>
              </a:rPr>
              <a:t>workspace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my_workspace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0.1.0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This is project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my_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workspace</a:t>
            </a:r>
            <a:endParaRPr lang="en-US" sz="1200" dirty="0">
              <a:solidFill>
                <a:srgbClr val="98C379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E06C75"/>
                </a:solidFill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my_workspace</a:t>
            </a:r>
            <a:r>
              <a:rPr lang="en-US" sz="1200" dirty="0">
                <a:solidFill>
                  <a:srgbClr val="98C379"/>
                </a:solidFill>
                <a:latin typeface="Consolas" panose="020B0609020204030204" pitchFamily="49" charset="0"/>
              </a:rPr>
              <a:t>/path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dep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_c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../C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dep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_d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../d</a:t>
            </a:r>
          </a:p>
          <a:p>
            <a:r>
              <a:rPr lang="en-US" sz="1200" dirty="0">
                <a:solidFill>
                  <a:srgbClr val="E06C75"/>
                </a:solidFill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98C379"/>
                </a:solidFill>
                <a:latin typeface="Consolas" panose="020B0609020204030204" pitchFamily="49" charset="0"/>
              </a:rPr>
              <a:t>dep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_c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112501D-32A3-4DDF-851F-92F5B4C04E54}"/>
              </a:ext>
            </a:extLst>
          </p:cNvPr>
          <p:cNvSpPr txBox="1"/>
          <p:nvPr/>
        </p:nvSpPr>
        <p:spPr>
          <a:xfrm>
            <a:off x="240452" y="1953858"/>
            <a:ext cx="20496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📁 </a:t>
            </a:r>
            <a:r>
              <a:rPr lang="fr-FR" sz="1600" dirty="0" err="1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my_workspace</a:t>
            </a:r>
            <a:endParaRPr lang="fr-FR" sz="1600" dirty="0">
              <a:latin typeface="Ubuntu Mono" panose="020B0309030602030204" pitchFamily="49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r>
              <a:rPr lang="fr-FR" sz="1600" b="0" dirty="0">
                <a:solidFill>
                  <a:srgbClr val="98C379"/>
                </a:solidFill>
                <a:effectLst/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└─</a:t>
            </a:r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📄</a:t>
            </a:r>
            <a:r>
              <a:rPr lang="fr-FR" sz="1600" dirty="0" err="1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kiss.yaml</a:t>
            </a:r>
            <a:r>
              <a:rPr lang="fr-FR" sz="1600" dirty="0">
                <a:latin typeface="Ubuntu Mono" panose="020B0309030602030204" pitchFamily="49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4AD0D4E-E19F-4508-A6A9-4612C72C4489}"/>
              </a:ext>
            </a:extLst>
          </p:cNvPr>
          <p:cNvSpPr txBox="1"/>
          <p:nvPr/>
        </p:nvSpPr>
        <p:spPr>
          <a:xfrm>
            <a:off x="4944328" y="1953858"/>
            <a:ext cx="68580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name of the workspace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</a:t>
            </a:r>
            <a:r>
              <a:rPr lang="fr-FR" sz="1200" dirty="0">
                <a:latin typeface="Consolas" panose="020B0609020204030204" pitchFamily="49" charset="0"/>
              </a:rPr>
              <a:t>1er caractère : lettre ASCII (maj/min) ou _</a:t>
            </a:r>
          </a:p>
          <a:p>
            <a:r>
              <a:rPr lang="fr-FR" sz="1200" dirty="0">
                <a:latin typeface="Consolas" panose="020B0609020204030204" pitchFamily="49" charset="0"/>
              </a:rPr>
              <a:t> - caractères suivants : lettres, chiffres ou _</a:t>
            </a:r>
          </a:p>
          <a:p>
            <a:endParaRPr lang="fr-FR" sz="1200" dirty="0"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version: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SemVer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version</a:t>
            </a:r>
          </a:p>
          <a:p>
            <a:endParaRPr lang="fr-FR" sz="1200" dirty="0"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description: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description of the project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path: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path of the workspace, (optional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</a:rPr>
              <a:t>kiss.yaml</a:t>
            </a:r>
            <a:r>
              <a:rPr lang="en-US" sz="1200" dirty="0">
                <a:latin typeface="Consolas" panose="020B0609020204030204" pitchFamily="49" charset="0"/>
              </a:rPr>
              <a:t> directory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if not set)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projects: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list of project to include in the workspace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 - relative to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my_workspace:path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directory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- absolute (Warning if build on absolute path)</a:t>
            </a:r>
          </a:p>
          <a:p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E06C75"/>
                </a:solidFill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name of the default project</a:t>
            </a:r>
            <a:endParaRPr lang="fr-FR" sz="1400" dirty="0">
              <a:latin typeface="Consolas" panose="020B0609020204030204" pitchFamily="49" charset="0"/>
            </a:endParaRP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ABA6FB31-8B5A-474D-BC2D-D5AB37D0F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266452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A3D0B8-82C2-4FEC-A30E-1CF9FD9F0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Create new </a:t>
            </a:r>
            <a:r>
              <a:rPr lang="fr-FR" dirty="0" err="1"/>
              <a:t>project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522D478-2B6E-434A-ABE9-8AEDA4CB3958}"/>
              </a:ext>
            </a:extLst>
          </p:cNvPr>
          <p:cNvSpPr txBox="1"/>
          <p:nvPr/>
        </p:nvSpPr>
        <p:spPr>
          <a:xfrm>
            <a:off x="807719" y="2158276"/>
            <a:ext cx="9776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kiss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new bin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my_bin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--description ‘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_bin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1CA123F-930C-4246-A7C8-583EFBF007F7}"/>
              </a:ext>
            </a:extLst>
          </p:cNvPr>
          <p:cNvSpPr txBox="1"/>
          <p:nvPr/>
        </p:nvSpPr>
        <p:spPr>
          <a:xfrm>
            <a:off x="807719" y="2451467"/>
            <a:ext cx="9364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kiss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new lib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my_lib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--description ‘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_lib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B93E97D-78BA-4D4B-BE6A-6D678EECFDF1}"/>
              </a:ext>
            </a:extLst>
          </p:cNvPr>
          <p:cNvSpPr txBox="1"/>
          <p:nvPr/>
        </p:nvSpPr>
        <p:spPr>
          <a:xfrm>
            <a:off x="838200" y="1712684"/>
            <a:ext cx="6858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dirty="0">
                <a:effectLst/>
                <a:latin typeface="Consolas" panose="020B0609020204030204" pitchFamily="49" charset="0"/>
              </a:rPr>
              <a:t>In </a:t>
            </a:r>
            <a:r>
              <a:rPr lang="fr-FR" sz="1400" b="0" dirty="0" err="1">
                <a:effectLst/>
                <a:latin typeface="Consolas" panose="020B0609020204030204" pitchFamily="49" charset="0"/>
              </a:rPr>
              <a:t>current</a:t>
            </a:r>
            <a:r>
              <a:rPr lang="fr-FR" sz="1400" b="0" dirty="0">
                <a:effectLst/>
                <a:latin typeface="Consolas" panose="020B0609020204030204" pitchFamily="49" charset="0"/>
              </a:rPr>
              <a:t> directory</a:t>
            </a:r>
            <a:endParaRPr lang="fr-FR" sz="1400" dirty="0">
              <a:latin typeface="Consolas" panose="020B0609020204030204" pitchFamily="49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C5CE148-88BE-4B8A-95B7-DF3FD425A34B}"/>
              </a:ext>
            </a:extLst>
          </p:cNvPr>
          <p:cNvSpPr txBox="1"/>
          <p:nvPr/>
        </p:nvSpPr>
        <p:spPr>
          <a:xfrm>
            <a:off x="807719" y="2761104"/>
            <a:ext cx="9503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kiss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new dyn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my_dyn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--description ‘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_dyn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ACBDCC9-9E95-42C8-9657-A55D8F66B5F4}"/>
              </a:ext>
            </a:extLst>
          </p:cNvPr>
          <p:cNvSpPr txBox="1"/>
          <p:nvPr/>
        </p:nvSpPr>
        <p:spPr>
          <a:xfrm>
            <a:off x="807719" y="3113990"/>
            <a:ext cx="1131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kiss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new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workspace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my_workspace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--description ‘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_workspace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A0951D3-E713-4361-84F8-AEF207559B9E}"/>
              </a:ext>
            </a:extLst>
          </p:cNvPr>
          <p:cNvSpPr txBox="1"/>
          <p:nvPr/>
        </p:nvSpPr>
        <p:spPr>
          <a:xfrm>
            <a:off x="838200" y="3740229"/>
            <a:ext cx="6858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dirty="0">
                <a:effectLst/>
                <a:latin typeface="Consolas" panose="020B0609020204030204" pitchFamily="49" charset="0"/>
              </a:rPr>
              <a:t>In </a:t>
            </a:r>
            <a:r>
              <a:rPr lang="fr-FR" sz="1400" b="0" dirty="0" err="1">
                <a:effectLst/>
                <a:latin typeface="Consolas" panose="020B0609020204030204" pitchFamily="49" charset="0"/>
              </a:rPr>
              <a:t>given</a:t>
            </a:r>
            <a:r>
              <a:rPr lang="fr-FR" sz="1400" b="0" dirty="0">
                <a:effectLst/>
                <a:latin typeface="Consolas" panose="020B0609020204030204" pitchFamily="49" charset="0"/>
              </a:rPr>
              <a:t> directory</a:t>
            </a:r>
            <a:endParaRPr lang="fr-FR" sz="1400" dirty="0">
              <a:latin typeface="Consolas" panose="020B0609020204030204" pitchFamily="49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C64D743-4DA4-42A0-9E78-C1980CC9305C}"/>
              </a:ext>
            </a:extLst>
          </p:cNvPr>
          <p:cNvSpPr txBox="1"/>
          <p:nvPr/>
        </p:nvSpPr>
        <p:spPr>
          <a:xfrm>
            <a:off x="807718" y="4190276"/>
            <a:ext cx="9776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kiss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–d ../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new bin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my_bin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--description ‘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_bin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7EC71AF-74C7-4C0F-B9DD-CF929158632E}"/>
              </a:ext>
            </a:extLst>
          </p:cNvPr>
          <p:cNvSpPr txBox="1"/>
          <p:nvPr/>
        </p:nvSpPr>
        <p:spPr>
          <a:xfrm>
            <a:off x="807718" y="4549026"/>
            <a:ext cx="9364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kiss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–d ../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new lib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my_lib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--description ‘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_lib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74D942F-D01E-4F57-85B9-7666685ED6BB}"/>
              </a:ext>
            </a:extLst>
          </p:cNvPr>
          <p:cNvSpPr txBox="1"/>
          <p:nvPr/>
        </p:nvSpPr>
        <p:spPr>
          <a:xfrm>
            <a:off x="807719" y="4907776"/>
            <a:ext cx="9503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kiss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–d ../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new dyn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my_dyn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--description ‘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_dyn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6426F45-965D-45B9-B923-D29BCD7C485D}"/>
              </a:ext>
            </a:extLst>
          </p:cNvPr>
          <p:cNvSpPr txBox="1"/>
          <p:nvPr/>
        </p:nvSpPr>
        <p:spPr>
          <a:xfrm>
            <a:off x="807719" y="5277108"/>
            <a:ext cx="1131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kiss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–d ../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new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workspace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my_workspace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--description ‘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fr-FR" sz="1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_workspace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0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2FE80-E836-4D2E-9006-B9FC2522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Yaml</a:t>
            </a:r>
            <a:r>
              <a:rPr lang="fr-FR" dirty="0"/>
              <a:t> class </a:t>
            </a:r>
            <a:r>
              <a:rPr lang="fr-FR" dirty="0" err="1"/>
              <a:t>struct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2718C0E-0ED0-4770-9B4F-BA3D3D78DE78}"/>
              </a:ext>
            </a:extLst>
          </p:cNvPr>
          <p:cNvSpPr txBox="1"/>
          <p:nvPr/>
        </p:nvSpPr>
        <p:spPr>
          <a:xfrm>
            <a:off x="697130" y="2165389"/>
            <a:ext cx="1427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📄</a:t>
            </a:r>
            <a:r>
              <a:rPr lang="fr-FR" dirty="0" err="1"/>
              <a:t>kiss.yaml</a:t>
            </a:r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3E0753EA-3959-419B-8419-F229DA88E20B}"/>
              </a:ext>
            </a:extLst>
          </p:cNvPr>
          <p:cNvGrpSpPr/>
          <p:nvPr/>
        </p:nvGrpSpPr>
        <p:grpSpPr>
          <a:xfrm>
            <a:off x="2352429" y="2165388"/>
            <a:ext cx="2938586" cy="1792961"/>
            <a:chOff x="2743199" y="2270760"/>
            <a:chExt cx="2344616" cy="156934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4616FEE-B6A9-4533-850F-E390E6A19C18}"/>
                </a:ext>
              </a:extLst>
            </p:cNvPr>
            <p:cNvSpPr/>
            <p:nvPr/>
          </p:nvSpPr>
          <p:spPr>
            <a:xfrm>
              <a:off x="2743199" y="2270760"/>
              <a:ext cx="2344616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/>
                <a:t>YamlFile</a:t>
              </a:r>
              <a:endParaRPr lang="fr-FR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D696FA-678B-4DD2-9F7B-DD7BC5760406}"/>
                </a:ext>
              </a:extLst>
            </p:cNvPr>
            <p:cNvSpPr/>
            <p:nvPr/>
          </p:nvSpPr>
          <p:spPr>
            <a:xfrm>
              <a:off x="2743199" y="3147285"/>
              <a:ext cx="2344616" cy="69281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400" dirty="0" err="1"/>
                <a:t>load_yaml</a:t>
              </a:r>
              <a:r>
                <a:rPr lang="fr-FR" sz="1400" dirty="0"/>
                <a:t>() -&gt; </a:t>
              </a:r>
              <a:r>
                <a:rPr lang="fr-FR" sz="1400" dirty="0" err="1">
                  <a:solidFill>
                    <a:srgbClr val="FF0000"/>
                  </a:solidFill>
                </a:rPr>
                <a:t>yaml</a:t>
              </a:r>
              <a:r>
                <a:rPr lang="fr-FR" sz="1400" dirty="0"/>
                <a:t> </a:t>
              </a:r>
            </a:p>
            <a:p>
              <a:r>
                <a:rPr lang="fr-FR" sz="1400" dirty="0" err="1"/>
                <a:t>save_yaml</a:t>
              </a:r>
              <a:r>
                <a:rPr lang="fr-FR" sz="1400" dirty="0"/>
                <a:t>()</a:t>
              </a:r>
            </a:p>
            <a:p>
              <a:r>
                <a:rPr lang="en-US" sz="1400" dirty="0" err="1"/>
                <a:t>load_yaml_projects_in_directory</a:t>
              </a:r>
              <a:r>
                <a:rPr lang="en-US" sz="1400" dirty="0"/>
                <a:t>()</a:t>
              </a:r>
              <a:endParaRPr lang="fr-FR" sz="1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C9B5D1-BE1F-47D2-8735-77E407017060}"/>
                </a:ext>
              </a:extLst>
            </p:cNvPr>
            <p:cNvSpPr/>
            <p:nvPr/>
          </p:nvSpPr>
          <p:spPr>
            <a:xfrm>
              <a:off x="2743199" y="2640092"/>
              <a:ext cx="2344616" cy="5071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400" dirty="0">
                  <a:solidFill>
                    <a:srgbClr val="FF0000"/>
                  </a:solidFill>
                </a:rPr>
                <a:t>file</a:t>
              </a:r>
              <a:r>
                <a:rPr lang="fr-FR" sz="1400" dirty="0"/>
                <a:t>: /a/b/c/</a:t>
              </a:r>
              <a:r>
                <a:rPr lang="fr-FR" sz="1400" dirty="0" err="1"/>
                <a:t>kiss.yaml</a:t>
              </a:r>
              <a:endParaRPr lang="fr-FR" sz="1400" dirty="0"/>
            </a:p>
            <a:p>
              <a:r>
                <a:rPr lang="fr-FR" sz="1400" dirty="0" err="1">
                  <a:solidFill>
                    <a:srgbClr val="FF0000"/>
                  </a:solidFill>
                </a:rPr>
                <a:t>yaml</a:t>
              </a:r>
              <a:r>
                <a:rPr lang="fr-FR" sz="1400" dirty="0"/>
                <a:t>: dict of </a:t>
              </a:r>
              <a:r>
                <a:rPr lang="fr-FR" sz="1400" dirty="0" err="1"/>
                <a:t>yaml</a:t>
              </a:r>
              <a:r>
                <a:rPr lang="fr-FR" sz="1400" dirty="0"/>
                <a:t> </a:t>
              </a:r>
              <a:r>
                <a:rPr lang="fr-FR" sz="1400" dirty="0" err="1"/>
                <a:t>obj</a:t>
              </a:r>
              <a:endParaRPr lang="fr-FR" sz="1400" dirty="0"/>
            </a:p>
          </p:txBody>
        </p:sp>
      </p:grp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3175237C-9EFF-4A00-8D0E-26575C757E92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2125001" y="2350055"/>
            <a:ext cx="227428" cy="26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 : carré corné 20">
            <a:extLst>
              <a:ext uri="{FF2B5EF4-FFF2-40B4-BE49-F238E27FC236}">
                <a16:creationId xmlns:a16="http://schemas.microsoft.com/office/drawing/2014/main" id="{B205081B-896A-4539-9038-701078EA4322}"/>
              </a:ext>
            </a:extLst>
          </p:cNvPr>
          <p:cNvSpPr/>
          <p:nvPr/>
        </p:nvSpPr>
        <p:spPr>
          <a:xfrm>
            <a:off x="5951806" y="2256270"/>
            <a:ext cx="5543064" cy="1608294"/>
          </a:xfrm>
          <a:prstGeom prst="foldedCorner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fr-FR" sz="1400" dirty="0" err="1"/>
              <a:t>load_yaml</a:t>
            </a:r>
            <a:r>
              <a:rPr lang="fr-FR" sz="1400" dirty="0"/>
              <a:t>() : </a:t>
            </a:r>
            <a:r>
              <a:rPr lang="fr-FR" sz="1400" dirty="0" err="1"/>
              <a:t>load</a:t>
            </a:r>
            <a:r>
              <a:rPr lang="fr-FR" sz="1400" dirty="0"/>
              <a:t> the </a:t>
            </a:r>
            <a:r>
              <a:rPr lang="fr-FR" sz="1400" dirty="0">
                <a:solidFill>
                  <a:srgbClr val="FF0000"/>
                </a:solidFill>
              </a:rPr>
              <a:t>file</a:t>
            </a:r>
            <a:r>
              <a:rPr lang="fr-FR" sz="1400" dirty="0"/>
              <a:t> in a </a:t>
            </a:r>
            <a:r>
              <a:rPr lang="fr-FR" sz="1400" dirty="0" err="1"/>
              <a:t>editable</a:t>
            </a:r>
            <a:r>
              <a:rPr lang="fr-FR" sz="1400" dirty="0"/>
              <a:t> </a:t>
            </a:r>
            <a:r>
              <a:rPr lang="fr-FR" sz="1400" dirty="0" err="1">
                <a:solidFill>
                  <a:srgbClr val="FF0000"/>
                </a:solidFill>
              </a:rPr>
              <a:t>yaml</a:t>
            </a:r>
            <a:r>
              <a:rPr lang="fr-FR" sz="1400" dirty="0"/>
              <a:t> </a:t>
            </a:r>
            <a:r>
              <a:rPr lang="fr-FR" sz="1400" dirty="0" err="1"/>
              <a:t>dictionnary</a:t>
            </a:r>
            <a:endParaRPr lang="fr-FR" sz="1400" dirty="0"/>
          </a:p>
          <a:p>
            <a:pPr>
              <a:lnSpc>
                <a:spcPct val="150000"/>
              </a:lnSpc>
            </a:pPr>
            <a:r>
              <a:rPr lang="fr-FR" sz="1400" dirty="0" err="1"/>
              <a:t>save_yaml</a:t>
            </a:r>
            <a:r>
              <a:rPr lang="fr-FR" sz="1400" dirty="0"/>
              <a:t>() : </a:t>
            </a:r>
            <a:r>
              <a:rPr lang="fr-FR" sz="1400" dirty="0" err="1"/>
              <a:t>save</a:t>
            </a:r>
            <a:r>
              <a:rPr lang="fr-FR" sz="1400" dirty="0"/>
              <a:t> the </a:t>
            </a:r>
            <a:r>
              <a:rPr lang="fr-FR" sz="1400" dirty="0" err="1">
                <a:solidFill>
                  <a:srgbClr val="FF0000"/>
                </a:solidFill>
              </a:rPr>
              <a:t>yaml</a:t>
            </a:r>
            <a:r>
              <a:rPr lang="fr-FR" sz="1400" dirty="0"/>
              <a:t> </a:t>
            </a:r>
            <a:r>
              <a:rPr lang="fr-FR" sz="1400" dirty="0" err="1"/>
              <a:t>dictionnary</a:t>
            </a:r>
            <a:r>
              <a:rPr lang="fr-FR" sz="1400" dirty="0"/>
              <a:t> in </a:t>
            </a:r>
            <a:r>
              <a:rPr lang="fr-FR" sz="1400" dirty="0">
                <a:solidFill>
                  <a:srgbClr val="FF0000"/>
                </a:solidFill>
              </a:rPr>
              <a:t>file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load_yaml_projects_in_directory</a:t>
            </a:r>
            <a:r>
              <a:rPr lang="en-US" sz="1400" dirty="0"/>
              <a:t>() : load all </a:t>
            </a:r>
            <a:r>
              <a:rPr lang="en-US" sz="1400" dirty="0" err="1"/>
              <a:t>yaml</a:t>
            </a:r>
            <a:r>
              <a:rPr lang="en-US" sz="1400" dirty="0"/>
              <a:t> file in a directory and return a list of all </a:t>
            </a:r>
            <a:r>
              <a:rPr lang="en-US" sz="1400" dirty="0" err="1"/>
              <a:t>YamlProject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325891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2FE80-E836-4D2E-9006-B9FC2522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Yaml</a:t>
            </a:r>
            <a:r>
              <a:rPr lang="fr-FR" dirty="0"/>
              <a:t> class </a:t>
            </a:r>
            <a:r>
              <a:rPr lang="fr-FR" dirty="0" err="1"/>
              <a:t>struct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FC66DB-159C-4262-A3E3-F1231B647A18}"/>
              </a:ext>
            </a:extLst>
          </p:cNvPr>
          <p:cNvSpPr/>
          <p:nvPr/>
        </p:nvSpPr>
        <p:spPr>
          <a:xfrm>
            <a:off x="2650196" y="1818638"/>
            <a:ext cx="65477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YamlProject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A8D640-6DCD-415F-AD9A-CDAD11543B51}"/>
              </a:ext>
            </a:extLst>
          </p:cNvPr>
          <p:cNvSpPr/>
          <p:nvPr/>
        </p:nvSpPr>
        <p:spPr>
          <a:xfrm>
            <a:off x="2650196" y="2187970"/>
            <a:ext cx="6547730" cy="2126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>
                <a:solidFill>
                  <a:srgbClr val="FF0000"/>
                </a:solidFill>
              </a:rPr>
              <a:t>type</a:t>
            </a:r>
            <a:r>
              <a:rPr lang="fr-FR" sz="1400" dirty="0"/>
              <a:t>: [bin, lib, dyn]</a:t>
            </a:r>
          </a:p>
          <a:p>
            <a:r>
              <a:rPr lang="fr-FR" sz="1400" dirty="0">
                <a:solidFill>
                  <a:srgbClr val="FF0000"/>
                </a:solidFill>
              </a:rPr>
              <a:t>file</a:t>
            </a:r>
            <a:r>
              <a:rPr lang="fr-FR" sz="1400" dirty="0"/>
              <a:t> : /a/b/c/</a:t>
            </a:r>
            <a:r>
              <a:rPr lang="fr-FR" sz="1400" dirty="0" err="1"/>
              <a:t>kiss.yaml</a:t>
            </a:r>
            <a:endParaRPr lang="fr-FR" sz="1400" dirty="0"/>
          </a:p>
          <a:p>
            <a:r>
              <a:rPr lang="fr-FR" sz="1400" dirty="0">
                <a:solidFill>
                  <a:srgbClr val="FF0000"/>
                </a:solidFill>
              </a:rPr>
              <a:t>directory</a:t>
            </a:r>
            <a:r>
              <a:rPr lang="fr-FR" sz="1400" dirty="0"/>
              <a:t> : </a:t>
            </a:r>
            <a:r>
              <a:rPr lang="fr-FR" sz="1400" dirty="0" err="1"/>
              <a:t>yaml:path</a:t>
            </a:r>
            <a:r>
              <a:rPr lang="fr-FR" sz="1400" dirty="0"/>
              <a:t> of the </a:t>
            </a:r>
            <a:r>
              <a:rPr lang="fr-FR" sz="1400" dirty="0" err="1"/>
              <a:t>project</a:t>
            </a:r>
            <a:r>
              <a:rPr lang="fr-FR" sz="1400" dirty="0"/>
              <a:t>, default </a:t>
            </a:r>
            <a:r>
              <a:rPr lang="fr-FR" sz="1400" dirty="0" err="1"/>
              <a:t>is</a:t>
            </a:r>
            <a:r>
              <a:rPr lang="fr-FR" sz="1400" dirty="0"/>
              <a:t> </a:t>
            </a:r>
            <a:r>
              <a:rPr lang="fr-FR" sz="1400" dirty="0">
                <a:solidFill>
                  <a:srgbClr val="FF0000"/>
                </a:solidFill>
              </a:rPr>
              <a:t>file</a:t>
            </a:r>
            <a:r>
              <a:rPr lang="fr-FR" sz="1400" dirty="0"/>
              <a:t> parent</a:t>
            </a:r>
          </a:p>
          <a:p>
            <a:r>
              <a:rPr lang="fr-FR" sz="1400" dirty="0" err="1">
                <a:solidFill>
                  <a:srgbClr val="FF0000"/>
                </a:solidFill>
              </a:rPr>
              <a:t>name</a:t>
            </a:r>
            <a:r>
              <a:rPr lang="fr-FR" sz="1400" dirty="0">
                <a:solidFill>
                  <a:srgbClr val="FF0000"/>
                </a:solidFill>
              </a:rPr>
              <a:t> </a:t>
            </a:r>
            <a:r>
              <a:rPr lang="fr-FR" sz="1400" dirty="0"/>
              <a:t>: </a:t>
            </a:r>
            <a:r>
              <a:rPr lang="fr-FR" sz="1400" dirty="0" err="1"/>
              <a:t>yaml:name</a:t>
            </a:r>
            <a:r>
              <a:rPr lang="fr-FR" sz="1400" dirty="0"/>
              <a:t> of the </a:t>
            </a:r>
            <a:r>
              <a:rPr lang="fr-FR" sz="1400" dirty="0" err="1"/>
              <a:t>project</a:t>
            </a:r>
            <a:br>
              <a:rPr lang="fr-FR" sz="1400" dirty="0"/>
            </a:br>
            <a:r>
              <a:rPr lang="fr-FR" sz="1400" dirty="0">
                <a:solidFill>
                  <a:srgbClr val="FF0000"/>
                </a:solidFill>
              </a:rPr>
              <a:t>description </a:t>
            </a:r>
            <a:r>
              <a:rPr lang="fr-FR" sz="1400" dirty="0"/>
              <a:t>: </a:t>
            </a:r>
            <a:r>
              <a:rPr lang="fr-FR" sz="1400" dirty="0" err="1"/>
              <a:t>yaml:description</a:t>
            </a:r>
            <a:r>
              <a:rPr lang="fr-FR" sz="1400" dirty="0"/>
              <a:t> of the </a:t>
            </a:r>
            <a:r>
              <a:rPr lang="fr-FR" sz="1400" dirty="0" err="1"/>
              <a:t>project</a:t>
            </a:r>
            <a:endParaRPr lang="fr-FR" sz="1400" dirty="0"/>
          </a:p>
          <a:p>
            <a:r>
              <a:rPr lang="fr-FR" sz="1400" dirty="0">
                <a:solidFill>
                  <a:srgbClr val="FF0000"/>
                </a:solidFill>
              </a:rPr>
              <a:t>version </a:t>
            </a:r>
            <a:r>
              <a:rPr lang="fr-FR" sz="1400" dirty="0"/>
              <a:t>: </a:t>
            </a:r>
            <a:r>
              <a:rPr lang="fr-FR" sz="1400" dirty="0" err="1"/>
              <a:t>yaml:version</a:t>
            </a:r>
            <a:r>
              <a:rPr lang="fr-FR" sz="1400" dirty="0"/>
              <a:t> of the </a:t>
            </a:r>
            <a:r>
              <a:rPr lang="fr-FR" sz="1400" dirty="0" err="1"/>
              <a:t>project</a:t>
            </a:r>
            <a:endParaRPr lang="fr-FR" sz="1400" dirty="0"/>
          </a:p>
          <a:p>
            <a:r>
              <a:rPr lang="fr-FR" sz="1400" dirty="0" err="1">
                <a:solidFill>
                  <a:srgbClr val="FF0000"/>
                </a:solidFill>
              </a:rPr>
              <a:t>dependencies</a:t>
            </a:r>
            <a:r>
              <a:rPr lang="fr-FR" sz="1400" dirty="0">
                <a:solidFill>
                  <a:srgbClr val="FF0000"/>
                </a:solidFill>
              </a:rPr>
              <a:t> </a:t>
            </a:r>
            <a:r>
              <a:rPr lang="fr-FR" sz="1400" dirty="0"/>
              <a:t>: </a:t>
            </a:r>
            <a:r>
              <a:rPr lang="fr-FR" sz="1400" dirty="0" err="1"/>
              <a:t>yaml:dependencies</a:t>
            </a:r>
            <a:r>
              <a:rPr lang="fr-FR" sz="1400" dirty="0"/>
              <a:t> of the </a:t>
            </a:r>
            <a:r>
              <a:rPr lang="fr-FR" sz="1400" dirty="0" err="1"/>
              <a:t>project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9329335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1571</Words>
  <Application>Microsoft Office PowerPoint</Application>
  <PresentationFormat>Grand écran</PresentationFormat>
  <Paragraphs>210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Courier New</vt:lpstr>
      <vt:lpstr>Ubuntu Mono</vt:lpstr>
      <vt:lpstr>Thème Office</vt:lpstr>
      <vt:lpstr>Présentation PowerPoint</vt:lpstr>
      <vt:lpstr>Présentation PowerPoint</vt:lpstr>
      <vt:lpstr>Binary project (elf, .exe)</vt:lpstr>
      <vt:lpstr>Static library project  (.a, .lib)</vt:lpstr>
      <vt:lpstr>Dynamic library project  (.so, .dll)</vt:lpstr>
      <vt:lpstr>Workspace</vt:lpstr>
      <vt:lpstr>Create new project</vt:lpstr>
      <vt:lpstr>Yaml class struct</vt:lpstr>
      <vt:lpstr>Yaml class struct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julian lalu</dc:creator>
  <cp:lastModifiedBy>julian lalu</cp:lastModifiedBy>
  <cp:revision>103</cp:revision>
  <dcterms:created xsi:type="dcterms:W3CDTF">2026-01-12T10:34:40Z</dcterms:created>
  <dcterms:modified xsi:type="dcterms:W3CDTF">2026-01-13T12:51:33Z</dcterms:modified>
</cp:coreProperties>
</file>